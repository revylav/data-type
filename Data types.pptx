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1.xml" ContentType="application/xml"/>
  <Override PartName="/customXml/item3.xml" ContentType="application/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9.xml" ContentType="application/vnd.openxmlformats-officedocument.theme+xml"/>
  <Override PartName="/ppt/theme/theme17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slideLayouts/_rels/slideLayout10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21.xml.rels" ContentType="application/vnd.openxmlformats-package.relationships+xml"/>
  <Override PartName="/ppt/slideLayouts/slideLayout19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89.xml" ContentType="application/vnd.openxmlformats-officedocument.presentationml.slideLayout+xml"/>
  <Override PartName="/ppt/_rels/presentation.xml.rels" ContentType="application/vnd.openxmlformats-package.relationships+xml"/>
  <Override PartName="/ppt/media/image1.wmf" ContentType="image/x-wmf"/>
  <Override PartName="/ppt/media/image3.wmf" ContentType="image/x-wmf"/>
  <Override PartName="/ppt/media/image4.png" ContentType="image/png"/>
  <Override PartName="/ppt/media/image39.png" ContentType="image/png"/>
  <Override PartName="/ppt/media/image6.wmf" ContentType="image/x-wmf"/>
  <Override PartName="/ppt/media/image21.wmf" ContentType="image/x-wmf"/>
  <Override PartName="/ppt/media/image11.wmf" ContentType="image/x-wmf"/>
  <Override PartName="/ppt/media/image7.wmf" ContentType="image/x-wmf"/>
  <Override PartName="/ppt/media/image22.wmf" ContentType="image/x-wmf"/>
  <Override PartName="/ppt/media/image8.wmf" ContentType="image/x-wmf"/>
  <Override PartName="/ppt/media/image23.wmf" ContentType="image/x-wmf"/>
  <Override PartName="/ppt/media/image9.wmf" ContentType="image/x-wmf"/>
  <Override PartName="/ppt/media/image10.wmf" ContentType="image/x-wmf"/>
  <Override PartName="/ppt/media/image12.png" ContentType="image/png"/>
  <Override PartName="/ppt/media/image13.wmf" ContentType="image/x-wmf"/>
  <Override PartName="/ppt/media/image14.wmf" ContentType="image/x-wmf"/>
  <Override PartName="/ppt/media/image15.wmf" ContentType="image/x-wmf"/>
  <Override PartName="/ppt/media/image16.wmf" ContentType="image/x-wmf"/>
  <Override PartName="/ppt/media/image30.png" ContentType="image/png"/>
  <Override PartName="/ppt/media/image17.wmf" ContentType="image/x-wmf"/>
  <Override PartName="/ppt/media/image31.png" ContentType="image/png"/>
  <Override PartName="/ppt/media/image2.wmf" ContentType="image/x-wmf"/>
  <Override PartName="/ppt/media/image18.png" ContentType="image/png"/>
  <Override PartName="/ppt/media/image19.wmf" ContentType="image/x-wmf"/>
  <Override PartName="/ppt/media/image33.png" ContentType="image/png"/>
  <Override PartName="/ppt/media/image5.wmf" ContentType="image/x-wmf"/>
  <Override PartName="/ppt/media/image20.wmf" ContentType="image/x-wmf"/>
  <Override PartName="/ppt/media/image24.png" ContentType="image/png"/>
  <Override PartName="/ppt/media/image32.png" ContentType="image/png"/>
  <Override PartName="/ppt/media/image37.png" ContentType="image/png"/>
  <Override PartName="/ppt/media/image28.png" ContentType="image/png"/>
  <Override PartName="/ppt/media/image34.png" ContentType="image/png"/>
  <Override PartName="/ppt/media/image25.png" ContentType="image/png"/>
  <Override PartName="/ppt/media/image40.png" ContentType="image/png"/>
  <Override PartName="/ppt/media/image38.png" ContentType="image/png"/>
  <Override PartName="/ppt/media/image29.png" ContentType="image/png"/>
  <Override PartName="/ppt/media/image35.png" ContentType="image/png"/>
  <Override PartName="/ppt/media/image26.png" ContentType="image/png"/>
  <Override PartName="/ppt/media/image41.png" ContentType="image/png"/>
  <Override PartName="/ppt/media/image36.png" ContentType="image/png"/>
  <Override PartName="/ppt/media/image27.png" ContentType="image/png"/>
  <Override PartName="/ppt/media/image42.png" ContentType="image/png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Open Sans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uk-UA" sz="2000" spc="-1" strike="noStrike">
                <a:latin typeface="Arial"/>
              </a:rPr>
              <a:t>Click to edit the notes format</a:t>
            </a:r>
            <a:endParaRPr b="0" lang="uk-UA" sz="2000" spc="-1" strike="noStrike"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uk-UA" sz="1400" spc="-1" strike="noStrike">
                <a:latin typeface="Times New Roman"/>
              </a:rPr>
              <a:t>&lt;header&gt;</a:t>
            </a:r>
            <a:endParaRPr b="0" lang="uk-UA" sz="1400" spc="-1" strike="noStrike">
              <a:latin typeface="Times New Roman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uk-UA" sz="1400" spc="-1" strike="noStrike">
                <a:latin typeface="Times New Roman"/>
              </a:rPr>
              <a:t>&lt;date/time&gt;</a:t>
            </a:r>
            <a:endParaRPr b="0" lang="uk-UA" sz="1400" spc="-1" strike="noStrike">
              <a:latin typeface="Times New Roman"/>
            </a:endParaRPr>
          </a:p>
        </p:txBody>
      </p:sp>
      <p:sp>
        <p:nvSpPr>
          <p:cNvPr id="65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uk-UA" sz="1400" spc="-1" strike="noStrike">
                <a:latin typeface="Times New Roman"/>
              </a:rPr>
              <a:t>&lt;footer&gt;</a:t>
            </a:r>
            <a:endParaRPr b="0" lang="uk-UA" sz="1400" spc="-1" strike="noStrike">
              <a:latin typeface="Times New Roman"/>
            </a:endParaRPr>
          </a:p>
        </p:txBody>
      </p:sp>
      <p:sp>
        <p:nvSpPr>
          <p:cNvPr id="65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14852169-C7B6-4E52-8205-214FB0D5C6BD}" type="slidenum">
              <a:rPr b="0" lang="uk-UA" sz="1400" spc="-1" strike="noStrike">
                <a:latin typeface="Times New Roman"/>
              </a:rPr>
              <a:t>&lt;number&gt;</a:t>
            </a:fld>
            <a:endParaRPr b="0" lang="uk-U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uk-UA" sz="2000" spc="-1" strike="noStrike">
              <a:latin typeface="Arial"/>
            </a:endParaRPr>
          </a:p>
        </p:txBody>
      </p:sp>
      <p:sp>
        <p:nvSpPr>
          <p:cNvPr id="69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BE78F88-5835-4D06-A065-2E6BAC08A8D2}" type="slidenum">
              <a:rPr b="0" lang="en-GB" sz="1200" spc="-1" strike="noStrike">
                <a:latin typeface="+mn-lt"/>
              </a:rPr>
              <a:t>&lt;number&gt;</a:t>
            </a:fld>
            <a:endParaRPr b="0" lang="uk-U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1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2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3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3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5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81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82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3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4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9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0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6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07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6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47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7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88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3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5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6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7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28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5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0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5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6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67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9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0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5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6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07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subTitle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ubTitle"/>
          </p:nvPr>
        </p:nvSpPr>
        <p:spPr>
          <a:xfrm>
            <a:off x="685800" y="685800"/>
            <a:ext cx="10820160" cy="31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uk-UA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342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28" name="PlaceHolder 4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body"/>
          </p:nvPr>
        </p:nvSpPr>
        <p:spPr>
          <a:xfrm>
            <a:off x="685800" y="3848400"/>
            <a:ext cx="1082016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body"/>
          </p:nvPr>
        </p:nvSpPr>
        <p:spPr>
          <a:xfrm>
            <a:off x="6230160" y="2057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39" name="PlaceHolder 4"/>
          <p:cNvSpPr>
            <a:spLocks noGrp="1"/>
          </p:cNvSpPr>
          <p:nvPr>
            <p:ph type="body"/>
          </p:nvPr>
        </p:nvSpPr>
        <p:spPr>
          <a:xfrm>
            <a:off x="68580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0" name="PlaceHolder 5"/>
          <p:cNvSpPr>
            <a:spLocks noGrp="1"/>
          </p:cNvSpPr>
          <p:nvPr>
            <p:ph type="body"/>
          </p:nvPr>
        </p:nvSpPr>
        <p:spPr>
          <a:xfrm>
            <a:off x="6230160" y="3848400"/>
            <a:ext cx="52801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body"/>
          </p:nvPr>
        </p:nvSpPr>
        <p:spPr>
          <a:xfrm>
            <a:off x="434412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4" name="PlaceHolder 4"/>
          <p:cNvSpPr>
            <a:spLocks noGrp="1"/>
          </p:cNvSpPr>
          <p:nvPr>
            <p:ph type="body"/>
          </p:nvPr>
        </p:nvSpPr>
        <p:spPr>
          <a:xfrm>
            <a:off x="8002440" y="2057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5" name="PlaceHolder 5"/>
          <p:cNvSpPr>
            <a:spLocks noGrp="1"/>
          </p:cNvSpPr>
          <p:nvPr>
            <p:ph type="body"/>
          </p:nvPr>
        </p:nvSpPr>
        <p:spPr>
          <a:xfrm>
            <a:off x="68580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6" name="PlaceHolder 6"/>
          <p:cNvSpPr>
            <a:spLocks noGrp="1"/>
          </p:cNvSpPr>
          <p:nvPr>
            <p:ph type="body"/>
          </p:nvPr>
        </p:nvSpPr>
        <p:spPr>
          <a:xfrm>
            <a:off x="434412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47" name="PlaceHolder 7"/>
          <p:cNvSpPr>
            <a:spLocks noGrp="1"/>
          </p:cNvSpPr>
          <p:nvPr>
            <p:ph type="body"/>
          </p:nvPr>
        </p:nvSpPr>
        <p:spPr>
          <a:xfrm>
            <a:off x="8002440" y="3848400"/>
            <a:ext cx="3483720" cy="1635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wmf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0.wmf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1.wmf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4.wmf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5.wmf"/><Relationship Id="rId3" Type="http://schemas.openxmlformats.org/officeDocument/2006/relationships/image" Target="../media/image16.wmf"/><Relationship Id="rId4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7.wmf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0.xml"/><Relationship Id="rId12" Type="http://schemas.openxmlformats.org/officeDocument/2006/relationships/slideLayout" Target="../slideLayouts/slideLayout141.xml"/><Relationship Id="rId13" Type="http://schemas.openxmlformats.org/officeDocument/2006/relationships/slideLayout" Target="../slideLayouts/slideLayout142.xml"/><Relationship Id="rId14" Type="http://schemas.openxmlformats.org/officeDocument/2006/relationships/slideLayout" Target="../slideLayouts/slideLayout143.xml"/><Relationship Id="rId15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9.wmf"/><Relationship Id="rId3" Type="http://schemas.openxmlformats.org/officeDocument/2006/relationships/image" Target="../media/image20.wmf"/><Relationship Id="rId4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1.wmf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2.wmf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3.wmf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f2585"/>
            </a:gs>
            <a:gs pos="100000">
              <a:srgbClr val="f26d2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85800" y="5915160"/>
            <a:ext cx="3466800" cy="2948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by Speaker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2" name="Picture 7" descr=""/>
          <p:cNvPicPr/>
          <p:nvPr/>
        </p:nvPicPr>
        <p:blipFill>
          <a:blip r:embed="rId3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-208440" y="174960"/>
            <a:ext cx="12390480" cy="668268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>
              <a:lnSpc>
                <a:spcPts val="11001"/>
              </a:lnSpc>
            </a:pPr>
            <a:r>
              <a:rPr b="0" lang="en-US" sz="15000" spc="-1" strike="noStrike">
                <a:solidFill>
                  <a:srgbClr val="ffffff"/>
                </a:solidFill>
                <a:latin typeface="Proxima Nova Black"/>
              </a:rPr>
              <a:t>TITLE</a:t>
            </a:r>
            <a:br/>
            <a:r>
              <a:rPr b="0" lang="en-US" sz="15000" spc="-1" strike="noStrike">
                <a:solidFill>
                  <a:srgbClr val="ffffff"/>
                </a:solidFill>
                <a:latin typeface="Proxima Nova Black"/>
              </a:rPr>
              <a:t>TO</a:t>
            </a:r>
            <a:r>
              <a:rPr b="0" lang="uk-UA" sz="15000" spc="-1" strike="noStrike">
                <a:solidFill>
                  <a:srgbClr val="ffffff"/>
                </a:solidFill>
                <a:latin typeface="Proxima Nova Black"/>
              </a:rPr>
              <a:t> </a:t>
            </a:r>
            <a:r>
              <a:rPr b="0" lang="en-US" sz="15000" spc="-1" strike="noStrike">
                <a:solidFill>
                  <a:srgbClr val="ffffff"/>
                </a:solidFill>
                <a:latin typeface="Proxima Nova Black"/>
              </a:rPr>
              <a:t>BE</a:t>
            </a:r>
            <a:r>
              <a:rPr b="0" lang="uk-UA" sz="15000" spc="-1" strike="noStrike">
                <a:solidFill>
                  <a:srgbClr val="ffffff"/>
                </a:solidFill>
                <a:latin typeface="Proxima Nova Black"/>
              </a:rPr>
              <a:t> </a:t>
            </a:r>
            <a:r>
              <a:rPr b="0" lang="en-US" sz="15000" spc="-1" strike="noStrike">
                <a:solidFill>
                  <a:srgbClr val="ffffff"/>
                </a:solidFill>
                <a:latin typeface="Proxima Nova Black"/>
              </a:rPr>
              <a:t>CAPI</a:t>
            </a:r>
            <a:br/>
            <a:r>
              <a:rPr b="0" lang="en-US" sz="15000" spc="-1" strike="noStrike">
                <a:solidFill>
                  <a:srgbClr val="ffffff"/>
                </a:solidFill>
                <a:latin typeface="Proxima Nova Black"/>
              </a:rPr>
              <a:t>TALIZED</a:t>
            </a:r>
            <a:endParaRPr b="0" lang="en-US" sz="150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f2585"/>
            </a:gs>
            <a:gs pos="100000">
              <a:srgbClr val="f26d2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41" name="CustomShape 1"/>
          <p:cNvSpPr/>
          <p:nvPr/>
        </p:nvSpPr>
        <p:spPr>
          <a:xfrm>
            <a:off x="0" y="1744920"/>
            <a:ext cx="12191760" cy="5112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44" name="Picture 7" descr=""/>
          <p:cNvPicPr/>
          <p:nvPr/>
        </p:nvPicPr>
        <p:blipFill>
          <a:blip r:embed="rId3"/>
          <a:stretch/>
        </p:blipFill>
        <p:spPr>
          <a:xfrm>
            <a:off x="9961920" y="5906880"/>
            <a:ext cx="1541520" cy="264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f2585"/>
            </a:gs>
            <a:gs pos="100000">
              <a:srgbClr val="f26d2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body"/>
          </p:nvPr>
        </p:nvSpPr>
        <p:spPr>
          <a:xfrm>
            <a:off x="68580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89548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0552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731520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952488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f2585"/>
            </a:gs>
            <a:gs pos="100000">
              <a:srgbClr val="f26d2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f2585"/>
            </a:gs>
            <a:gs pos="100000">
              <a:srgbClr val="f26d2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346680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363200" y="2057400"/>
            <a:ext cx="34653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8039160" y="2057400"/>
            <a:ext cx="346680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0000">
              <a:srgbClr val="00a6ce"/>
            </a:gs>
            <a:gs pos="100000">
              <a:srgbClr val="95d60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48002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ts val="11001"/>
              </a:lnSpc>
            </a:pPr>
            <a:r>
              <a:rPr b="0" lang="en-US" sz="125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125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5915160"/>
            <a:ext cx="3466800" cy="2948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by Speaker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207" name="Picture 6" descr=""/>
          <p:cNvPicPr/>
          <p:nvPr/>
        </p:nvPicPr>
        <p:blipFill>
          <a:blip r:embed="rId3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0000">
              <a:srgbClr val="00a6ce"/>
            </a:gs>
            <a:gs pos="100000">
              <a:srgbClr val="95d60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28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30000">
                <a:srgbClr val="00a6ce"/>
              </a:gs>
              <a:gs pos="100000">
                <a:srgbClr val="95d6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5" name="CustomShape 2"/>
          <p:cNvSpPr/>
          <p:nvPr/>
        </p:nvSpPr>
        <p:spPr>
          <a:xfrm>
            <a:off x="0" y="1744920"/>
            <a:ext cx="12191760" cy="5112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6" name="PlaceHolder 3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288" name="Picture 7" descr=""/>
          <p:cNvPicPr/>
          <p:nvPr/>
        </p:nvPicPr>
        <p:blipFill>
          <a:blip r:embed="rId3"/>
          <a:stretch/>
        </p:blipFill>
        <p:spPr>
          <a:xfrm>
            <a:off x="9961920" y="5906880"/>
            <a:ext cx="1541520" cy="264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0000">
              <a:srgbClr val="00a6ce"/>
            </a:gs>
            <a:gs pos="100000">
              <a:srgbClr val="95d60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326" name="PlaceHolder 1"/>
          <p:cNvSpPr>
            <a:spLocks noGrp="1"/>
          </p:cNvSpPr>
          <p:nvPr>
            <p:ph type="body"/>
          </p:nvPr>
        </p:nvSpPr>
        <p:spPr>
          <a:xfrm>
            <a:off x="4381560" y="1382400"/>
            <a:ext cx="7124400" cy="4103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title"/>
          </p:nvPr>
        </p:nvSpPr>
        <p:spPr>
          <a:xfrm>
            <a:off x="685800" y="1382400"/>
            <a:ext cx="3466800" cy="191340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8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</a:t>
            </a:r>
            <a:br/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BE CAPITA</a:t>
            </a:r>
            <a:br/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685800" y="3429000"/>
            <a:ext cx="3466800" cy="20570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0000">
              <a:srgbClr val="00a6ce"/>
            </a:gs>
            <a:gs pos="100000">
              <a:srgbClr val="95d60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body"/>
          </p:nvPr>
        </p:nvSpPr>
        <p:spPr>
          <a:xfrm>
            <a:off x="68580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289548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510552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body"/>
          </p:nvPr>
        </p:nvSpPr>
        <p:spPr>
          <a:xfrm>
            <a:off x="731520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body"/>
          </p:nvPr>
        </p:nvSpPr>
        <p:spPr>
          <a:xfrm>
            <a:off x="9524880" y="2057400"/>
            <a:ext cx="198072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Proxima Nova Black"/>
                <a:ea typeface="Open Sans"/>
              </a:rPr>
              <a:t>Click to edit the text 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1" name="PlaceHolder 6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62d7f"/>
            </a:gs>
            <a:gs pos="100000">
              <a:srgbClr val="562d7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48002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ts val="11001"/>
              </a:lnSpc>
            </a:pPr>
            <a:r>
              <a:rPr b="0" lang="en-US" sz="125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125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5915160"/>
            <a:ext cx="3466800" cy="2948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by Speaker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411" name="Picture 6" descr=""/>
          <p:cNvPicPr/>
          <p:nvPr/>
        </p:nvPicPr>
        <p:blipFill>
          <a:blip r:embed="rId3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0000">
              <a:srgbClr val="00a6ce"/>
            </a:gs>
            <a:gs pos="100000">
              <a:srgbClr val="7030a0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449" name="CustomShape 1"/>
          <p:cNvSpPr/>
          <p:nvPr/>
        </p:nvSpPr>
        <p:spPr>
          <a:xfrm>
            <a:off x="0" y="1744920"/>
            <a:ext cx="12191760" cy="5112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0" name="PlaceHolder 2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451" name="Picture 7" descr=""/>
          <p:cNvPicPr/>
          <p:nvPr/>
        </p:nvPicPr>
        <p:blipFill>
          <a:blip r:embed="rId3"/>
          <a:stretch/>
        </p:blipFill>
        <p:spPr>
          <a:xfrm>
            <a:off x="9961920" y="5906880"/>
            <a:ext cx="1541520" cy="264960"/>
          </a:xfrm>
          <a:prstGeom prst="rect">
            <a:avLst/>
          </a:prstGeom>
          <a:ln w="0">
            <a:noFill/>
          </a:ln>
        </p:spPr>
      </p:pic>
      <p:sp>
        <p:nvSpPr>
          <p:cNvPr id="452" name="PlaceHolder 3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62d7f"/>
            </a:gs>
            <a:gs pos="100000">
              <a:srgbClr val="562d7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492" name="Picture 8" descr=""/>
          <p:cNvPicPr/>
          <p:nvPr/>
        </p:nvPicPr>
        <p:blipFill>
          <a:blip r:embed="rId3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62d7f"/>
            </a:gs>
            <a:gs pos="100000">
              <a:srgbClr val="562d7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en-US" sz="28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62d7f"/>
            </a:gs>
            <a:gs pos="100000">
              <a:srgbClr val="562d7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517464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body"/>
          </p:nvPr>
        </p:nvSpPr>
        <p:spPr>
          <a:xfrm>
            <a:off x="6330600" y="2057400"/>
            <a:ext cx="517500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  <a:ea typeface="Open Sans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"/>
                <a:ea typeface="Open Sans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"/>
                <a:ea typeface="Open Sans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Picture 8" descr=""/>
          <p:cNvPicPr/>
          <p:nvPr/>
        </p:nvPicPr>
        <p:blipFill>
          <a:blip r:embed="rId2"/>
          <a:stretch/>
        </p:blipFill>
        <p:spPr>
          <a:xfrm>
            <a:off x="9959040" y="5906880"/>
            <a:ext cx="1546560" cy="264960"/>
          </a:xfrm>
          <a:prstGeom prst="rect">
            <a:avLst/>
          </a:prstGeom>
          <a:ln w="0">
            <a:noFill/>
          </a:ln>
        </p:spPr>
      </p:pic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820160" cy="6854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Proxima Nova Black"/>
              </a:rPr>
              <a:t>TITLE TO BE CAPITALIZED</a:t>
            </a:r>
            <a:endParaRPr b="0" lang="en-US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10820160" cy="3428640"/>
          </a:xfrm>
          <a:prstGeom prst="rect">
            <a:avLst/>
          </a:prstGeom>
        </p:spPr>
        <p:txBody>
          <a:bodyPr lIns="0" rIns="90000" tIns="45000" bIns="45000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Click to edit the text </a:t>
            </a:r>
            <a:endParaRPr b="0" lang="en-US" sz="2000" spc="-1" strike="noStrike">
              <a:solidFill>
                <a:srgbClr val="ffffff"/>
              </a:solidFill>
              <a:latin typeface="Open Sans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Second level</a:t>
            </a:r>
            <a:endParaRPr b="0" lang="en-US" sz="1800" spc="-1" strike="noStrike">
              <a:solidFill>
                <a:srgbClr val="ffffff"/>
              </a:solidFill>
              <a:latin typeface="Open Sans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Third level</a:t>
            </a:r>
            <a:endParaRPr b="0" lang="en-US" sz="1600" spc="-1" strike="noStrike">
              <a:solidFill>
                <a:srgbClr val="ffffff"/>
              </a:solidFill>
              <a:latin typeface="Open Sans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Fourth level</a:t>
            </a:r>
            <a:endParaRPr b="0" lang="en-US" sz="1400" spc="-1" strike="noStrike">
              <a:solidFill>
                <a:srgbClr val="ffffff"/>
              </a:solidFill>
              <a:latin typeface="Open Sans"/>
            </a:endParaRPr>
          </a:p>
          <a:p>
            <a:pPr marL="18288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Open Sans Regular"/>
                <a:ea typeface="Open Sans Regular"/>
              </a:rPr>
              <a:t>Fifth level</a:t>
            </a:r>
            <a:endParaRPr b="0" lang="en-US" sz="1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11" name="CustomShape 3"/>
          <p:cNvSpPr/>
          <p:nvPr/>
        </p:nvSpPr>
        <p:spPr>
          <a:xfrm>
            <a:off x="9487080" y="236880"/>
            <a:ext cx="21211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Open Sans Regular"/>
                <a:ea typeface="Open Sans Regular"/>
              </a:rPr>
              <a:t>SoftServe Confidential</a:t>
            </a:r>
            <a:endParaRPr b="0" lang="uk-UA" sz="11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8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Shape 1"/>
          <p:cNvSpPr txBox="1"/>
          <p:nvPr/>
        </p:nvSpPr>
        <p:spPr>
          <a:xfrm>
            <a:off x="685800" y="5915160"/>
            <a:ext cx="3466800" cy="2948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pPr indent="-3240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Open Sans"/>
              </a:rPr>
              <a:t>By Vadum Revula</a:t>
            </a:r>
            <a:endParaRPr b="0" lang="en-US" sz="2000" spc="-1" strike="noStrike">
              <a:solidFill>
                <a:srgbClr val="ffffff"/>
              </a:solidFill>
              <a:latin typeface="Open Sans"/>
              <a:ea typeface="Open Sans"/>
            </a:endParaRPr>
          </a:p>
        </p:txBody>
      </p:sp>
      <p:sp>
        <p:nvSpPr>
          <p:cNvPr id="655" name="TextShape 2"/>
          <p:cNvSpPr txBox="1"/>
          <p:nvPr/>
        </p:nvSpPr>
        <p:spPr>
          <a:xfrm>
            <a:off x="1800000" y="342000"/>
            <a:ext cx="7380000" cy="32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ts val="11001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Adelle Sans Devanagari"/>
              </a:rPr>
              <a:t>Data Types and Convercion. </a:t>
            </a:r>
            <a:br/>
            <a:r>
              <a:rPr b="0" lang="en-US" sz="4000" spc="-1" strike="noStrike">
                <a:solidFill>
                  <a:srgbClr val="ffffff"/>
                </a:solidFill>
                <a:latin typeface="Adelle Sans Devanagari"/>
              </a:rPr>
              <a:t>Type Conversion</a:t>
            </a:r>
            <a:endParaRPr b="0" lang="en-US" sz="4000" spc="-1" strike="noStrike">
              <a:solidFill>
                <a:srgbClr val="ffffff"/>
              </a:solidFill>
              <a:latin typeface="Adelle Sans Devanaga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Adelle Sans Devanagari"/>
              </a:rPr>
              <a:t>Data Types</a:t>
            </a:r>
            <a:endParaRPr b="0" lang="en-US" sz="4400" spc="-1" strike="noStrike">
              <a:solidFill>
                <a:srgbClr val="ffffff"/>
              </a:solidFill>
              <a:latin typeface="Adelle Sans Devanagari"/>
            </a:endParaRPr>
          </a:p>
        </p:txBody>
      </p:sp>
      <p:sp>
        <p:nvSpPr>
          <p:cNvPr id="657" name="TextShape 2"/>
          <p:cNvSpPr txBox="1"/>
          <p:nvPr/>
        </p:nvSpPr>
        <p:spPr>
          <a:xfrm>
            <a:off x="720000" y="2160000"/>
            <a:ext cx="162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200" spc="-1" strike="noStrike">
                <a:latin typeface="Arial"/>
              </a:rPr>
              <a:t>Number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String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Boolean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Object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Function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Undefined</a:t>
            </a:r>
            <a:endParaRPr b="0" lang="uk-UA" sz="2200" spc="-1" strike="noStrike">
              <a:latin typeface="Arial"/>
            </a:endParaRPr>
          </a:p>
          <a:p>
            <a:r>
              <a:rPr b="0" lang="uk-UA" sz="2200" spc="-1" strike="noStrike">
                <a:latin typeface="Arial"/>
              </a:rPr>
              <a:t>Symbol</a:t>
            </a:r>
            <a:endParaRPr b="0" lang="uk-UA" sz="2200" spc="-1" strike="noStrike">
              <a:latin typeface="Arial"/>
            </a:endParaRPr>
          </a:p>
        </p:txBody>
      </p:sp>
      <p:sp>
        <p:nvSpPr>
          <p:cNvPr id="658" name="TextShape 3"/>
          <p:cNvSpPr txBox="1"/>
          <p:nvPr/>
        </p:nvSpPr>
        <p:spPr>
          <a:xfrm>
            <a:off x="360000" y="5580000"/>
            <a:ext cx="5760000" cy="98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The </a:t>
            </a:r>
            <a:r>
              <a:rPr b="0" lang="uk-UA" sz="1600" spc="-1" strike="noStrike">
                <a:solidFill>
                  <a:srgbClr val="090a0a"/>
                </a:solidFill>
                <a:latin typeface="Menlo-Regular"/>
                <a:ea typeface="Menlo-Regular"/>
              </a:rPr>
              <a:t>null</a:t>
            </a:r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 value of course is not an object though. Its type is </a:t>
            </a:r>
            <a:r>
              <a:rPr b="0" lang="uk-UA" sz="1600" spc="-1" strike="noStrike">
                <a:solidFill>
                  <a:srgbClr val="090a0a"/>
                </a:solidFill>
                <a:latin typeface="Menlo-Regular"/>
                <a:ea typeface="Menlo-Regular"/>
              </a:rPr>
              <a:t>"null"</a:t>
            </a:r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. Yet for the historical reasons </a:t>
            </a:r>
            <a:r>
              <a:rPr b="0" lang="uk-UA" sz="1600" spc="-1" strike="noStrike">
                <a:solidFill>
                  <a:srgbClr val="090a0a"/>
                </a:solidFill>
                <a:latin typeface="Menlo-Regular"/>
                <a:ea typeface="Menlo-Regular"/>
              </a:rPr>
              <a:t>typeof</a:t>
            </a:r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 function returns </a:t>
            </a:r>
            <a:r>
              <a:rPr b="0" lang="uk-UA" sz="1600" spc="-1" strike="noStrike">
                <a:solidFill>
                  <a:srgbClr val="090a0a"/>
                </a:solidFill>
                <a:latin typeface="Menlo-Regular"/>
                <a:ea typeface="Menlo-Regular"/>
              </a:rPr>
              <a:t>"object"</a:t>
            </a:r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 for the </a:t>
            </a:r>
            <a:r>
              <a:rPr b="0" lang="uk-UA" sz="1600" spc="-1" strike="noStrike">
                <a:solidFill>
                  <a:srgbClr val="090a0a"/>
                </a:solidFill>
                <a:latin typeface="Menlo-Regular"/>
                <a:ea typeface="Menlo-Regular"/>
              </a:rPr>
              <a:t>null</a:t>
            </a:r>
            <a:r>
              <a:rPr b="0" lang="uk-UA" sz="2000" spc="-1" strike="noStrike">
                <a:solidFill>
                  <a:srgbClr val="090a0a"/>
                </a:solidFill>
                <a:latin typeface="HelveticaNeue"/>
                <a:ea typeface="HelveticaNeue"/>
              </a:rPr>
              <a:t> value.</a:t>
            </a:r>
            <a:endParaRPr b="0" lang="uk-UA" sz="2000" spc="-1" strike="noStrike">
              <a:latin typeface="Arial"/>
            </a:endParaRPr>
          </a:p>
        </p:txBody>
      </p:sp>
      <p:pic>
        <p:nvPicPr>
          <p:cNvPr id="659" name="" descr=""/>
          <p:cNvPicPr/>
          <p:nvPr/>
        </p:nvPicPr>
        <p:blipFill>
          <a:blip r:embed="rId1"/>
          <a:stretch/>
        </p:blipFill>
        <p:spPr>
          <a:xfrm>
            <a:off x="4192560" y="2011680"/>
            <a:ext cx="7687440" cy="338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String type conversion</a:t>
            </a:r>
            <a:endParaRPr b="1" lang="en-US" sz="4400" spc="-1" strike="noStrike">
              <a:solidFill>
                <a:srgbClr val="090a0a"/>
              </a:solidFill>
              <a:latin typeface="Adelle Sans Devanagari"/>
              <a:ea typeface="HelveticaNeue-Bold"/>
            </a:endParaRPr>
          </a:p>
        </p:txBody>
      </p:sp>
      <p:pic>
        <p:nvPicPr>
          <p:cNvPr id="661" name="" descr=""/>
          <p:cNvPicPr/>
          <p:nvPr/>
        </p:nvPicPr>
        <p:blipFill>
          <a:blip r:embed="rId1"/>
          <a:stretch/>
        </p:blipFill>
        <p:spPr>
          <a:xfrm>
            <a:off x="662400" y="3600000"/>
            <a:ext cx="7077600" cy="1772640"/>
          </a:xfrm>
          <a:prstGeom prst="rect">
            <a:avLst/>
          </a:prstGeom>
          <a:ln w="0">
            <a:noFill/>
          </a:ln>
        </p:spPr>
      </p:pic>
      <p:sp>
        <p:nvSpPr>
          <p:cNvPr id="662" name="TextShape 2"/>
          <p:cNvSpPr txBox="1"/>
          <p:nvPr/>
        </p:nvSpPr>
        <p:spPr>
          <a:xfrm>
            <a:off x="540000" y="1620000"/>
            <a:ext cx="522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String type conversion applies when the given value is expected to be a string. The most basic example is the </a:t>
            </a:r>
            <a:r>
              <a:rPr b="0" i="1" lang="uk-UA" sz="2000" spc="-1" strike="noStrike">
                <a:solidFill>
                  <a:srgbClr val="ffffff"/>
                </a:solidFill>
                <a:latin typeface="Adelle Sans Devanagari"/>
                <a:ea typeface="HelveticaNeue-Italic"/>
              </a:rPr>
              <a:t>alert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function:</a:t>
            </a:r>
            <a:endParaRPr b="0" lang="uk-UA" sz="2000" spc="-1" strike="noStrike">
              <a:solidFill>
                <a:srgbClr val="ffffff"/>
              </a:solidFill>
              <a:latin typeface="Adelle Sans Devanaga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" descr=""/>
          <p:cNvPicPr/>
          <p:nvPr/>
        </p:nvPicPr>
        <p:blipFill>
          <a:blip r:embed="rId1"/>
          <a:stretch/>
        </p:blipFill>
        <p:spPr>
          <a:xfrm>
            <a:off x="540000" y="2880000"/>
            <a:ext cx="7009200" cy="2340000"/>
          </a:xfrm>
          <a:prstGeom prst="rect">
            <a:avLst/>
          </a:prstGeom>
          <a:ln w="0">
            <a:noFill/>
          </a:ln>
        </p:spPr>
      </p:pic>
      <p:pic>
        <p:nvPicPr>
          <p:cNvPr id="664" name="" descr=""/>
          <p:cNvPicPr/>
          <p:nvPr/>
        </p:nvPicPr>
        <p:blipFill>
          <a:blip r:embed="rId2"/>
          <a:stretch/>
        </p:blipFill>
        <p:spPr>
          <a:xfrm>
            <a:off x="7549200" y="2884320"/>
            <a:ext cx="2172960" cy="2335680"/>
          </a:xfrm>
          <a:prstGeom prst="rect">
            <a:avLst/>
          </a:prstGeom>
          <a:ln w="0">
            <a:noFill/>
          </a:ln>
        </p:spPr>
      </p:pic>
      <p:pic>
        <p:nvPicPr>
          <p:cNvPr id="665" name="" descr=""/>
          <p:cNvPicPr/>
          <p:nvPr/>
        </p:nvPicPr>
        <p:blipFill>
          <a:blip r:embed="rId3"/>
          <a:stretch/>
        </p:blipFill>
        <p:spPr>
          <a:xfrm>
            <a:off x="540000" y="1440000"/>
            <a:ext cx="7464240" cy="1080000"/>
          </a:xfrm>
          <a:prstGeom prst="rect">
            <a:avLst/>
          </a:prstGeom>
          <a:ln w="0">
            <a:noFill/>
          </a:ln>
        </p:spPr>
      </p:pic>
      <p:sp>
        <p:nvSpPr>
          <p:cNvPr id="666" name="TextShape 1"/>
          <p:cNvSpPr txBox="1"/>
          <p:nvPr/>
        </p:nvSpPr>
        <p:spPr>
          <a:xfrm>
            <a:off x="900000" y="540000"/>
            <a:ext cx="738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3600" spc="-1" strike="noStrike">
                <a:solidFill>
                  <a:srgbClr val="ffffff"/>
                </a:solidFill>
                <a:latin typeface="Adelle Sans Devanagari"/>
              </a:rPr>
              <a:t>typeof and instanceof</a:t>
            </a:r>
            <a:endParaRPr b="0" lang="uk-UA" sz="3600" spc="-1" strike="noStrike">
              <a:solidFill>
                <a:srgbClr val="ffffff"/>
              </a:solidFill>
              <a:latin typeface="Adelle Sans Devanagari"/>
            </a:endParaRPr>
          </a:p>
        </p:txBody>
      </p:sp>
      <p:pic>
        <p:nvPicPr>
          <p:cNvPr id="667" name="" descr=""/>
          <p:cNvPicPr/>
          <p:nvPr/>
        </p:nvPicPr>
        <p:blipFill>
          <a:blip r:embed="rId4"/>
          <a:stretch/>
        </p:blipFill>
        <p:spPr>
          <a:xfrm>
            <a:off x="559800" y="5753880"/>
            <a:ext cx="6640200" cy="90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Number type conversion</a:t>
            </a:r>
            <a:endParaRPr b="1" lang="en-US" sz="4000" spc="-1" strike="noStrike">
              <a:solidFill>
                <a:srgbClr val="ffffff"/>
              </a:solidFill>
              <a:latin typeface="Adelle Sans Devanagari"/>
              <a:ea typeface="HelveticaNeue-Bold"/>
            </a:endParaRPr>
          </a:p>
        </p:txBody>
      </p:sp>
      <p:sp>
        <p:nvSpPr>
          <p:cNvPr id="669" name="TextShape 2"/>
          <p:cNvSpPr txBox="1"/>
          <p:nvPr/>
        </p:nvSpPr>
        <p:spPr>
          <a:xfrm>
            <a:off x="540000" y="1620000"/>
            <a:ext cx="5220000" cy="352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Number type conversion can be met in the math expressions and comparisons.</a:t>
            </a:r>
            <a:endParaRPr b="0" lang="uk-UA" sz="2000" spc="-1" strike="noStrike">
              <a:solidFill>
                <a:srgbClr val="090a0a"/>
              </a:solidFill>
              <a:latin typeface="HelveticaNeue"/>
              <a:ea typeface="HelveticaNeue"/>
            </a:endParaRPr>
          </a:p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The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+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operator actually works a bit differently. </a:t>
            </a:r>
            <a:r>
              <a:rPr b="1" lang="uk-UA" sz="2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If one of the operands is a string, then all other operands are converted to string too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and it works like string concatenation, not like the math expression</a:t>
            </a:r>
            <a:endParaRPr b="0" lang="uk-UA" sz="2000" spc="-1" strike="noStrike">
              <a:latin typeface="Arial"/>
            </a:endParaRPr>
          </a:p>
        </p:txBody>
      </p:sp>
      <p:pic>
        <p:nvPicPr>
          <p:cNvPr id="670" name="" descr=""/>
          <p:cNvPicPr/>
          <p:nvPr/>
        </p:nvPicPr>
        <p:blipFill>
          <a:blip r:embed="rId1"/>
          <a:stretch/>
        </p:blipFill>
        <p:spPr>
          <a:xfrm>
            <a:off x="8640000" y="1444680"/>
            <a:ext cx="2880000" cy="2515320"/>
          </a:xfrm>
          <a:prstGeom prst="rect">
            <a:avLst/>
          </a:prstGeom>
          <a:ln w="0">
            <a:noFill/>
          </a:ln>
        </p:spPr>
      </p:pic>
      <p:pic>
        <p:nvPicPr>
          <p:cNvPr id="671" name="" descr=""/>
          <p:cNvPicPr/>
          <p:nvPr/>
        </p:nvPicPr>
        <p:blipFill>
          <a:blip r:embed="rId2"/>
          <a:stretch/>
        </p:blipFill>
        <p:spPr>
          <a:xfrm>
            <a:off x="540000" y="5145120"/>
            <a:ext cx="8345520" cy="169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Numbers</a:t>
            </a:r>
            <a:endParaRPr b="1" lang="en-US" sz="4000" spc="-1" strike="noStrike">
              <a:solidFill>
                <a:srgbClr val="ffffff"/>
              </a:solidFill>
              <a:latin typeface="Adelle Sans Devanagari"/>
              <a:ea typeface="HelveticaNeue-Bold"/>
            </a:endParaRPr>
          </a:p>
        </p:txBody>
      </p:sp>
      <p:pic>
        <p:nvPicPr>
          <p:cNvPr id="673" name="" descr=""/>
          <p:cNvPicPr/>
          <p:nvPr/>
        </p:nvPicPr>
        <p:blipFill>
          <a:blip r:embed="rId1"/>
          <a:stretch/>
        </p:blipFill>
        <p:spPr>
          <a:xfrm>
            <a:off x="455400" y="1800000"/>
            <a:ext cx="9444600" cy="1149480"/>
          </a:xfrm>
          <a:prstGeom prst="rect">
            <a:avLst/>
          </a:prstGeom>
          <a:ln w="0">
            <a:noFill/>
          </a:ln>
        </p:spPr>
      </p:pic>
      <p:pic>
        <p:nvPicPr>
          <p:cNvPr id="674" name="" descr=""/>
          <p:cNvPicPr/>
          <p:nvPr/>
        </p:nvPicPr>
        <p:blipFill>
          <a:blip r:embed="rId2"/>
          <a:stretch/>
        </p:blipFill>
        <p:spPr>
          <a:xfrm>
            <a:off x="441360" y="3497400"/>
            <a:ext cx="7984800" cy="17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Boolean type conversion</a:t>
            </a:r>
            <a:endParaRPr b="1" lang="en-US" sz="4000" spc="-1" strike="noStrike">
              <a:solidFill>
                <a:srgbClr val="090a0a"/>
              </a:solidFill>
              <a:latin typeface="HelveticaNeue-Bold"/>
              <a:ea typeface="HelveticaNeue-Bold"/>
            </a:endParaRPr>
          </a:p>
        </p:txBody>
      </p:sp>
      <p:sp>
        <p:nvSpPr>
          <p:cNvPr id="676" name="TextShape 2"/>
          <p:cNvSpPr txBox="1"/>
          <p:nvPr/>
        </p:nvSpPr>
        <p:spPr>
          <a:xfrm>
            <a:off x="540000" y="1620000"/>
            <a:ext cx="5220000" cy="254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This type of conversion happens in logical operations. It follows strict rules too yet they are mostly obvious:</a:t>
            </a:r>
            <a:endParaRPr b="0" lang="uk-UA" sz="2000" spc="-1" strike="noStrike">
              <a:solidFill>
                <a:srgbClr val="ffffff"/>
              </a:solidFill>
              <a:latin typeface="Adelle Sans Devanagari"/>
              <a:ea typeface="HelveticaNeue"/>
            </a:endParaRPr>
          </a:p>
          <a:p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0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,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NaN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,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undefined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,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null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,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""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are converting to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false</a:t>
            </a:r>
            <a:endParaRPr b="0" lang="uk-UA" sz="1600" spc="-1" strike="noStrike">
              <a:solidFill>
                <a:srgbClr val="ffffff"/>
              </a:solidFill>
              <a:latin typeface="Adelle Sans Devanagari"/>
            </a:endParaRPr>
          </a:p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everything else, including objects, to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true</a:t>
            </a:r>
            <a:endParaRPr b="0" lang="uk-UA" sz="1600" spc="-1" strike="noStrike">
              <a:solidFill>
                <a:srgbClr val="ffffff"/>
              </a:solidFill>
              <a:latin typeface="Adelle Sans Devanagari"/>
            </a:endParaRPr>
          </a:p>
        </p:txBody>
      </p:sp>
      <p:pic>
        <p:nvPicPr>
          <p:cNvPr id="677" name="" descr=""/>
          <p:cNvPicPr/>
          <p:nvPr/>
        </p:nvPicPr>
        <p:blipFill>
          <a:blip r:embed="rId1"/>
          <a:stretch/>
        </p:blipFill>
        <p:spPr>
          <a:xfrm>
            <a:off x="6545160" y="1800000"/>
            <a:ext cx="4974840" cy="188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Type conversions for objects</a:t>
            </a:r>
            <a:endParaRPr b="1" lang="en-US" sz="3000" spc="-1" strike="noStrike">
              <a:solidFill>
                <a:srgbClr val="ffffff"/>
              </a:solidFill>
              <a:latin typeface="Adelle Sans Devanagari"/>
              <a:ea typeface="HelveticaNeue-Bold"/>
            </a:endParaRPr>
          </a:p>
        </p:txBody>
      </p:sp>
      <p:sp>
        <p:nvSpPr>
          <p:cNvPr id="679" name="TextShape 2"/>
          <p:cNvSpPr txBox="1"/>
          <p:nvPr/>
        </p:nvSpPr>
        <p:spPr>
          <a:xfrm>
            <a:off x="540000" y="1620000"/>
            <a:ext cx="3960000" cy="156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What JavaScript is going to do if it needs to convert an object to string or number?</a:t>
            </a:r>
            <a:endParaRPr b="0" lang="uk-UA" sz="2000" spc="-1" strike="noStrike">
              <a:solidFill>
                <a:srgbClr val="090a0a"/>
              </a:solidFill>
              <a:latin typeface="HelveticaNeue"/>
              <a:ea typeface="HelveticaNeue"/>
            </a:endParaRPr>
          </a:p>
        </p:txBody>
      </p:sp>
      <p:pic>
        <p:nvPicPr>
          <p:cNvPr id="680" name="" descr=""/>
          <p:cNvPicPr/>
          <p:nvPr/>
        </p:nvPicPr>
        <p:blipFill>
          <a:blip r:embed="rId1"/>
          <a:stretch/>
        </p:blipFill>
        <p:spPr>
          <a:xfrm>
            <a:off x="4717800" y="1800000"/>
            <a:ext cx="6622200" cy="1179000"/>
          </a:xfrm>
          <a:prstGeom prst="rect">
            <a:avLst/>
          </a:prstGeom>
          <a:ln w="0">
            <a:noFill/>
          </a:ln>
        </p:spPr>
      </p:pic>
      <p:pic>
        <p:nvPicPr>
          <p:cNvPr id="681" name="" descr=""/>
          <p:cNvPicPr/>
          <p:nvPr/>
        </p:nvPicPr>
        <p:blipFill>
          <a:blip r:embed="rId2"/>
          <a:stretch/>
        </p:blipFill>
        <p:spPr>
          <a:xfrm>
            <a:off x="540000" y="3420000"/>
            <a:ext cx="6737760" cy="1080000"/>
          </a:xfrm>
          <a:prstGeom prst="rect">
            <a:avLst/>
          </a:prstGeom>
          <a:ln w="0">
            <a:noFill/>
          </a:ln>
        </p:spPr>
      </p:pic>
      <p:pic>
        <p:nvPicPr>
          <p:cNvPr id="682" name="" descr=""/>
          <p:cNvPicPr/>
          <p:nvPr/>
        </p:nvPicPr>
        <p:blipFill>
          <a:blip r:embed="rId3"/>
          <a:stretch/>
        </p:blipFill>
        <p:spPr>
          <a:xfrm>
            <a:off x="540000" y="4907520"/>
            <a:ext cx="7352640" cy="103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extShape 1"/>
          <p:cNvSpPr txBox="1"/>
          <p:nvPr/>
        </p:nvSpPr>
        <p:spPr>
          <a:xfrm>
            <a:off x="360000" y="180000"/>
            <a:ext cx="1152000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When converting the </a:t>
            </a:r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object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type (not array), JavaScript tries to find and call three object methods:</a:t>
            </a:r>
            <a:endParaRPr b="0" lang="uk-UA" sz="2000" spc="-1" strike="noStrike">
              <a:solidFill>
                <a:srgbClr val="ffffff"/>
              </a:solidFill>
              <a:latin typeface="Adelle Sans Devanagari"/>
            </a:endParaRPr>
          </a:p>
        </p:txBody>
      </p:sp>
      <p:pic>
        <p:nvPicPr>
          <p:cNvPr id="684" name="" descr=""/>
          <p:cNvPicPr/>
          <p:nvPr/>
        </p:nvPicPr>
        <p:blipFill>
          <a:blip r:embed="rId1"/>
          <a:stretch/>
        </p:blipFill>
        <p:spPr>
          <a:xfrm>
            <a:off x="360000" y="957240"/>
            <a:ext cx="10818360" cy="372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Comparison and type conversion</a:t>
            </a:r>
            <a:endParaRPr b="1" lang="en-US" sz="4400" spc="-1" strike="noStrike">
              <a:solidFill>
                <a:srgbClr val="090a0a"/>
              </a:solidFill>
              <a:latin typeface="Adelle Sans Devanagari"/>
              <a:ea typeface="HelveticaNeue-Bold"/>
            </a:endParaRPr>
          </a:p>
        </p:txBody>
      </p:sp>
      <p:sp>
        <p:nvSpPr>
          <p:cNvPr id="686" name="TextShape 2"/>
          <p:cNvSpPr txBox="1"/>
          <p:nvPr/>
        </p:nvSpPr>
        <p:spPr>
          <a:xfrm>
            <a:off x="720000" y="1800000"/>
            <a:ext cx="594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1" lang="uk-UA" sz="2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When doing a non-strict comparison Javascript converts operands to numbers if operands have different type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:</a:t>
            </a:r>
            <a:endParaRPr b="0" lang="uk-UA" sz="2000" spc="-1" strike="noStrike">
              <a:solidFill>
                <a:srgbClr val="ffffff"/>
              </a:solidFill>
              <a:latin typeface="Adelle Sans Devanagari"/>
            </a:endParaRPr>
          </a:p>
        </p:txBody>
      </p:sp>
      <p:pic>
        <p:nvPicPr>
          <p:cNvPr id="687" name="" descr=""/>
          <p:cNvPicPr/>
          <p:nvPr/>
        </p:nvPicPr>
        <p:blipFill>
          <a:blip r:embed="rId1"/>
          <a:stretch/>
        </p:blipFill>
        <p:spPr>
          <a:xfrm>
            <a:off x="720000" y="3780000"/>
            <a:ext cx="10354320" cy="159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Shape 1"/>
          <p:cNvSpPr txBox="1"/>
          <p:nvPr/>
        </p:nvSpPr>
        <p:spPr>
          <a:xfrm>
            <a:off x="685800" y="685800"/>
            <a:ext cx="10820160" cy="68544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Comparison and type conversion</a:t>
            </a:r>
            <a:endParaRPr b="1" lang="en-US" sz="4400" spc="-1" strike="noStrike">
              <a:solidFill>
                <a:srgbClr val="090a0a"/>
              </a:solidFill>
              <a:latin typeface="Adelle Sans Devanagari"/>
              <a:ea typeface="HelveticaNeue-Bold"/>
            </a:endParaRPr>
          </a:p>
        </p:txBody>
      </p:sp>
      <p:sp>
        <p:nvSpPr>
          <p:cNvPr id="689" name="TextShape 2"/>
          <p:cNvSpPr txBox="1"/>
          <p:nvPr/>
        </p:nvSpPr>
        <p:spPr>
          <a:xfrm>
            <a:off x="720000" y="1800000"/>
            <a:ext cx="6840000" cy="20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1600" spc="-1" strike="noStrike">
                <a:solidFill>
                  <a:srgbClr val="ffffff"/>
                </a:solidFill>
                <a:latin typeface="Adelle Sans Devanagari"/>
                <a:ea typeface="Menlo-Regular"/>
              </a:rPr>
              <a:t>null == undefined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! There isn't any type of conversion here and these values have a different types! Yet </a:t>
            </a:r>
            <a:r>
              <a:rPr b="1" lang="uk-UA" sz="2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in non-strict comparison </a:t>
            </a:r>
            <a:r>
              <a:rPr b="1" lang="uk-UA" sz="1600" spc="-1" strike="noStrike">
                <a:solidFill>
                  <a:srgbClr val="ffffff"/>
                </a:solidFill>
                <a:latin typeface="Adelle Sans Devanagari"/>
                <a:ea typeface="Menlo-Bold"/>
              </a:rPr>
              <a:t>undefined</a:t>
            </a:r>
            <a:r>
              <a:rPr b="1" lang="uk-UA" sz="2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 equals </a:t>
            </a:r>
            <a:r>
              <a:rPr b="1" lang="uk-UA" sz="1600" spc="-1" strike="noStrike">
                <a:solidFill>
                  <a:srgbClr val="ffffff"/>
                </a:solidFill>
                <a:latin typeface="Adelle Sans Devanagari"/>
                <a:ea typeface="Menlo-Bold"/>
              </a:rPr>
              <a:t>null</a:t>
            </a:r>
            <a:r>
              <a:rPr b="1" lang="uk-UA" sz="2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 and </a:t>
            </a:r>
            <a:r>
              <a:rPr b="1" lang="uk-UA" sz="1600" spc="-1" strike="noStrike">
                <a:solidFill>
                  <a:srgbClr val="ffffff"/>
                </a:solidFill>
                <a:latin typeface="Adelle Sans Devanagari"/>
                <a:ea typeface="Menlo-Bold"/>
              </a:rPr>
              <a:t>undefined</a:t>
            </a:r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 by design:</a:t>
            </a:r>
            <a:endParaRPr b="0" lang="uk-UA" sz="2000" spc="-1" strike="noStrike">
              <a:solidFill>
                <a:srgbClr val="ffffff"/>
              </a:solidFill>
              <a:latin typeface="Adelle Sans Devanagari"/>
            </a:endParaRPr>
          </a:p>
        </p:txBody>
      </p:sp>
      <p:pic>
        <p:nvPicPr>
          <p:cNvPr id="690" name="" descr=""/>
          <p:cNvPicPr/>
          <p:nvPr/>
        </p:nvPicPr>
        <p:blipFill>
          <a:blip r:embed="rId1"/>
          <a:stretch/>
        </p:blipFill>
        <p:spPr>
          <a:xfrm>
            <a:off x="720000" y="3853080"/>
            <a:ext cx="9612000" cy="106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Shape 1"/>
          <p:cNvSpPr txBox="1"/>
          <p:nvPr/>
        </p:nvSpPr>
        <p:spPr>
          <a:xfrm>
            <a:off x="8460000" y="0"/>
            <a:ext cx="3420000" cy="224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2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Javascript converts the value to the expected type following specific rules.</a:t>
            </a:r>
            <a:endParaRPr b="0" lang="uk-UA" sz="2200" spc="-1" strike="noStrike">
              <a:solidFill>
                <a:srgbClr val="ffffff"/>
              </a:solidFill>
              <a:latin typeface="Adelle Sans Devanagari"/>
              <a:ea typeface="HelveticaNeue"/>
            </a:endParaRPr>
          </a:p>
        </p:txBody>
      </p:sp>
      <p:pic>
        <p:nvPicPr>
          <p:cNvPr id="692" name="" descr=""/>
          <p:cNvPicPr/>
          <p:nvPr/>
        </p:nvPicPr>
        <p:blipFill>
          <a:blip r:embed="rId1"/>
          <a:stretch/>
        </p:blipFill>
        <p:spPr>
          <a:xfrm>
            <a:off x="540000" y="767160"/>
            <a:ext cx="7560000" cy="589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Shape 1"/>
          <p:cNvSpPr txBox="1"/>
          <p:nvPr/>
        </p:nvSpPr>
        <p:spPr>
          <a:xfrm>
            <a:off x="4860000" y="540000"/>
            <a:ext cx="2520000" cy="82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1" lang="uk-UA" sz="3000" spc="-1" strike="noStrike">
                <a:solidFill>
                  <a:srgbClr val="ffffff"/>
                </a:solidFill>
                <a:latin typeface="Adelle Sans Devanagari"/>
                <a:ea typeface="HelveticaNeue-Bold"/>
              </a:rPr>
              <a:t>Conclusion</a:t>
            </a:r>
            <a:endParaRPr b="1" lang="uk-UA" sz="3000" spc="-1" strike="noStrike">
              <a:solidFill>
                <a:srgbClr val="ffffff"/>
              </a:solidFill>
              <a:latin typeface="Adelle Sans Devanagari"/>
              <a:ea typeface="HelveticaNeue-Bold"/>
            </a:endParaRPr>
          </a:p>
        </p:txBody>
      </p:sp>
      <p:sp>
        <p:nvSpPr>
          <p:cNvPr id="694" name="TextShape 2"/>
          <p:cNvSpPr txBox="1"/>
          <p:nvPr/>
        </p:nvSpPr>
        <p:spPr>
          <a:xfrm>
            <a:off x="720000" y="1620000"/>
            <a:ext cx="10980000" cy="273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uk-UA" sz="2000" spc="-1" strike="noStrike">
                <a:solidFill>
                  <a:srgbClr val="ffffff"/>
                </a:solidFill>
                <a:latin typeface="Adelle Sans Devanagari"/>
                <a:ea typeface="HelveticaNeue"/>
              </a:rPr>
              <a:t>In JavaScript, different data types require distinct forms of checking.</a:t>
            </a:r>
            <a:endParaRPr b="0" lang="uk-UA" sz="2000" spc="-1" strike="noStrike">
              <a:solidFill>
                <a:srgbClr val="262626"/>
              </a:solidFill>
              <a:latin typeface="OpenSans-Regular"/>
              <a:ea typeface="OpenSans-Regular"/>
            </a:endParaRPr>
          </a:p>
          <a:p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Strings, numbers, booleans and functions can be easily checked by using the </a:t>
            </a:r>
            <a:r>
              <a:rPr b="0" i="1" lang="uk-UA" sz="1750" spc="-1" strike="noStrike">
                <a:solidFill>
                  <a:srgbClr val="ffffff"/>
                </a:solidFill>
                <a:latin typeface="Adelle Sans Devanagari"/>
                <a:ea typeface="OpenSans-Italic"/>
              </a:rPr>
              <a:t>typeof</a:t>
            </a:r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 operator.</a:t>
            </a:r>
            <a:endParaRPr b="0" lang="uk-UA" sz="1750" spc="-1" strike="noStrike">
              <a:latin typeface="Arial"/>
            </a:endParaRPr>
          </a:p>
          <a:p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For </a:t>
            </a:r>
            <a:r>
              <a:rPr b="0" i="1" lang="uk-UA" sz="1750" spc="-1" strike="noStrike">
                <a:solidFill>
                  <a:srgbClr val="ffffff"/>
                </a:solidFill>
                <a:latin typeface="Adelle Sans Devanagari"/>
                <a:ea typeface="OpenSans-Italic"/>
              </a:rPr>
              <a:t>null</a:t>
            </a:r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 and </a:t>
            </a:r>
            <a:r>
              <a:rPr b="0" i="1" lang="uk-UA" sz="1750" spc="-1" strike="noStrike">
                <a:solidFill>
                  <a:srgbClr val="ffffff"/>
                </a:solidFill>
                <a:latin typeface="Adelle Sans Devanagari"/>
                <a:ea typeface="OpenSans-Italic"/>
              </a:rPr>
              <a:t>undefined</a:t>
            </a:r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, you can use a simple comparison with the strict equality operator.</a:t>
            </a:r>
            <a:endParaRPr b="0" lang="uk-UA" sz="1750" spc="-1" strike="noStrike">
              <a:latin typeface="Arial"/>
            </a:endParaRPr>
          </a:p>
          <a:p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Arrays can be recognized by using the </a:t>
            </a:r>
            <a:r>
              <a:rPr b="0" i="1" lang="uk-UA" sz="1750" spc="-1" strike="noStrike">
                <a:solidFill>
                  <a:srgbClr val="ffffff"/>
                </a:solidFill>
                <a:latin typeface="Adelle Sans Devanagari"/>
                <a:ea typeface="OpenSans-Italic"/>
              </a:rPr>
              <a:t>Array.isArray</a:t>
            </a:r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 static method</a:t>
            </a:r>
            <a:endParaRPr b="0" lang="uk-UA" sz="1750" spc="-1" strike="noStrike">
              <a:latin typeface="Arial"/>
            </a:endParaRPr>
          </a:p>
          <a:p>
            <a:r>
              <a:rPr b="0" lang="uk-UA" sz="1750" spc="-1" strike="noStrike">
                <a:solidFill>
                  <a:srgbClr val="ffffff"/>
                </a:solidFill>
                <a:latin typeface="Adelle Sans Devanagari"/>
                <a:ea typeface="OpenSans-Regular"/>
              </a:rPr>
              <a:t>We have special functions such as isNaN and isFinite, for us to check numeric values like NaN, Infinity and -Infinity</a:t>
            </a:r>
            <a:endParaRPr b="0" lang="uk-UA" sz="1750" spc="-1" strike="noStrike">
              <a:solidFill>
                <a:srgbClr val="262626"/>
              </a:solidFill>
              <a:latin typeface="OpenSans-Regular"/>
              <a:ea typeface="OpenSans-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pasted-image.png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95FC54A15F344D83577B1CDDD67A5D" ma:contentTypeVersion="13" ma:contentTypeDescription="Create a new document." ma:contentTypeScope="" ma:versionID="30ded57c9b2156718eb8cc7b0e4246dc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a0d1831635397921c92a19e568dfc949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033E08-7FE9-4F6D-B155-A8777B4A5A57}">
  <ds:schemaRefs>
    <ds:schemaRef ds:uri="341e6018-ac0a-4dfb-8409-db9e0d25502e"/>
    <ds:schemaRef ds:uri="835f28f2-30f1-4728-84d2-86d96e14348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CFD5A9-9FF3-42E0-89D7-BF5BFC61DD60}">
  <ds:schemaRefs>
    <ds:schemaRef ds:uri="341e6018-ac0a-4dfb-8409-db9e0d25502e"/>
    <ds:schemaRef ds:uri="835f28f2-30f1-4728-84d2-86d96e1434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LibreOffice/7.0.4.2$MacOSX_X86_64 LibreOffice_project/dcf040e67528d9187c66b2379df5ea4407429775</Application>
  <AppVersion>15.0000</AppVersion>
  <Company>Verint Systems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2018-11-02T13:55:27Z</dcterms:created>
  <dc:creator>Strutynska, Viktoriya</dc:creator>
  <dc:description/>
  <dc:language>uk-UA</dc:language>
  <cp:lastModifiedBy/>
  <dcterms:modified xsi:type="dcterms:W3CDTF">2021-02-17T11:58:27Z</dcterms:modified>
  <cp:revision>2</cp:revision>
  <dc:subject/>
  <dc:title>508/WCAG SERVICE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17</vt:i4>
  </property>
</Properties>
</file>